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418263fdcc4964" /><Relationship Type="http://schemas.openxmlformats.org/officeDocument/2006/relationships/extended-properties" Target="/docProps/app.xml" Id="Rd283d3a4bdab48fc" /><Relationship Type="http://schemas.openxmlformats.org/officeDocument/2006/relationships/officeDocument" Target="/ppt/presentation.xml" Id="R8f05a9aa344445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051ab4cfba42b0"/>
  </p:sldMasterIdLst>
  <p:notesMasterIdLst>
    <p:notesMasterId xmlns:r="http://schemas.openxmlformats.org/officeDocument/2006/relationships" r:id="R3a516f7e3fcc41c3"/>
  </p:notesMasterIdLst>
  <p:sldIdLst>
    <p:sldId xmlns:r="http://schemas.openxmlformats.org/officeDocument/2006/relationships" id="256" r:id="Ref0ee66e314b44be"/>
    <p:sldId xmlns:r="http://schemas.openxmlformats.org/officeDocument/2006/relationships" id="257" r:id="Ra967b5e29fd44a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5d76668417446b" /><Relationship Type="http://schemas.openxmlformats.org/officeDocument/2006/relationships/slideMaster" Target="/ppt/slideMasters/slideMaster1.xml" Id="R6b051ab4cfba42b0" /><Relationship Type="http://schemas.openxmlformats.org/officeDocument/2006/relationships/notesMaster" Target="/ppt/notesMasters/notesMaster1.xml" Id="R3a516f7e3fcc41c3" /><Relationship Type="http://schemas.openxmlformats.org/officeDocument/2006/relationships/presProps" Target="/ppt/presProps.xml" Id="R2fdfaab019f14791" /><Relationship Type="http://schemas.openxmlformats.org/officeDocument/2006/relationships/tableStyles" Target="/ppt/tableStyles.xml" Id="R28493bc3416344ee" /><Relationship Type="http://schemas.openxmlformats.org/officeDocument/2006/relationships/slide" Target="/ppt/slides/slide1.xml" Id="Ref0ee66e314b44be" /><Relationship Type="http://schemas.openxmlformats.org/officeDocument/2006/relationships/slide" Target="/ppt/slides/slide2.xml" Id="Ra967b5e29fd44a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14df44a40b43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d0fe98981c47c2" /><Relationship Type="http://schemas.openxmlformats.org/officeDocument/2006/relationships/notesMaster" Target="/ppt/notesMasters/notesMaster1.xml" Id="R6009b114e8dc4c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b731fa141147be" /><Relationship Type="http://schemas.openxmlformats.org/officeDocument/2006/relationships/notesMaster" Target="/ppt/notesMasters/notesMaster1.xml" Id="Rc9cd27693f4c4f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separate five-minute script for the complete narration.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https://transtats.bts.gov/DatabaseInfo.asp?QO_VQ=EFD</a:t>
            </a:r>
          </a:p>
          <a:p xmlns:a="http://schemas.openxmlformats.org/drawingml/2006/main">
            <a:r>
              <a:t>- https://www.transtats.bts.gov/DL_SelectFields.aspx?QO_fu146_anzr=&amp;gnoyr_VQ=FGJ</a:t>
            </a:r>
          </a:p>
          <a:p xmlns:a="http://schemas.openxmlformats.org/drawingml/2006/main">
            <a:r>
              <a:t>- https://catalog.data.gov/dataset/u-s-marketing-air-carriers-on-time-performance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separate five-minute script for the complete narration.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https://transtats.bts.gov/DatabaseInfo.asp?QO_VQ=EFD</a:t>
            </a:r>
          </a:p>
          <a:p xmlns:a="http://schemas.openxmlformats.org/drawingml/2006/main">
            <a:r>
              <a:t>- https://www.transtats.bts.gov/DL_SelectFields.aspx?QO_fu146_anzr=&amp;gnoyr_VQ=FGJ</a:t>
            </a:r>
          </a:p>
          <a:p xmlns:a="http://schemas.openxmlformats.org/drawingml/2006/main">
            <a:r>
              <a:t>- https://www.transportation.gov/briefing-room/air-travel-consumer-report-december-2025-numbers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5720a3779d43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bca700fde047fb" /><Relationship Type="http://schemas.openxmlformats.org/officeDocument/2006/relationships/slideLayout" Target="/ppt/slideLayouts/slideLayout1.xml" Id="Ra06777fc910041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6777fc910041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5a4111ee34f17" /><Relationship Type="http://schemas.openxmlformats.org/officeDocument/2006/relationships/notesSlide" Target="/ppt/notesSlides/notesSlide1.xml" Id="R2afb9ae32cc341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6d9b44dc541ec" /><Relationship Type="http://schemas.openxmlformats.org/officeDocument/2006/relationships/notesSlide" Target="/ppt/notesSlides/notesSlide2.xml" Id="R2a234df342d94f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F5444B-1CAE-4D53-BBF1-190D2B74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78B5"/>
                </a:solidFill>
              </a:defRPr>
            </a:pPr>
            <a:r>
              <a:rPr sz="1125" b="1">
                <a:solidFill>
                  <a:srgbClr val="2878B5"/>
                </a:solidFill>
              </a:rPr>
              <a:t>DASC 605 · BRING YOUR OWN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3B719-7995-4A49-9AEB-81286759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43A"/>
                </a:solidFill>
              </a:defRPr>
            </a:pPr>
            <a:r>
              <a:rPr sz="2850" b="1">
                <a:solidFill>
                  <a:srgbClr val="13243A"/>
                </a:solidFill>
              </a:rPr>
              <a:t>Understanding and Predicting Delays at Virginia Airports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5C5B9-77D3-4460-AA5D-517F3B05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273"/>
                </a:solidFill>
              </a:defRPr>
            </a:pPr>
            <a:r>
              <a:rPr sz="1200" b="1">
                <a:solidFill>
                  <a:srgbClr val="536273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620F9-CB48-4BC6-9177-C82C443F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33D"/>
          </a:solidFill>
          <a:ln xmlns:a="http://schemas.openxmlformats.org/drawingml/2006/main" w="0">
            <a:solidFill>
              <a:srgbClr val="F3B3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88143-E108-44BF-94C3-3E18A9D6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273"/>
                </a:solidFill>
              </a:defRPr>
            </a:pPr>
            <a:r>
              <a:rPr sz="1500" b="0">
                <a:solidFill>
                  <a:srgbClr val="536273"/>
                </a:solidFill>
              </a:rPr>
              <a:t>2025 U.S. DOT/BTS Reporting Carrier On-Time Performance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A3DC1-0EAB-4483-A018-048D38C3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4762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5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65F86E-BDAF-44E9-9443-D7C417CB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78B5"/>
                </a:solidFill>
              </a:defRPr>
            </a:pPr>
            <a:r>
              <a:rPr sz="1200" b="1">
                <a:solidFill>
                  <a:srgbClr val="2878B5"/>
                </a:solidFill>
              </a:rPr>
              <a:t>WHY THIS DATASET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025400-D5BE-41EF-AE05-27E3E177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43A"/>
                </a:solidFill>
              </a:defRPr>
            </a:pPr>
            <a:r>
              <a:rPr sz="1950" b="1">
                <a:solidFill>
                  <a:srgbClr val="13243A"/>
                </a:solidFill>
              </a:rPr>
              <a:t>One row = one reported domestic flight</a:t>
            </a:r>
          </a:p>
          <a:p xmlns:a="http://schemas.openxmlformats.org/drawingml/2006/main">
            <a:pPr algn="l">
              <a:defRPr sz="1950" b="1">
                <a:solidFill>
                  <a:srgbClr val="13243A"/>
                </a:solidFill>
              </a:defRPr>
            </a:pPr>
            <a:r>
              <a:rPr sz="1950" b="1">
                <a:solidFill>
                  <a:srgbClr val="13243A"/>
                </a:solidFill>
              </a:rPr>
              <a:t>originating at a Virginia airport in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17BC41-9FD3-4E81-A75D-90B22689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400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3"/>
                </a:solidFill>
              </a:defRPr>
            </a:pPr>
            <a:r>
              <a:rPr sz="1425" b="0">
                <a:solidFill>
                  <a:srgbClr val="536273"/>
                </a:solidFill>
              </a:rPr>
              <a:t>BTS receives monthly, flight-level reports from qualifying U.S. carriers. Records include scheduled and actual times, airports, airline, taxi and air time, distance, cancellations, diversions, and attributed delay causes.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B2A187-F929-4C08-86E4-E1531099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78B5"/>
                </a:solidFill>
              </a:defRPr>
            </a:pPr>
            <a:r>
              <a:rPr sz="1200" b="1">
                <a:solidFill>
                  <a:srgbClr val="2878B5"/>
                </a:solidFill>
              </a:rPr>
              <a:t>Official public source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0638C0-3E00-4705-A86D-8E8D01FE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48250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43A"/>
                </a:solidFill>
              </a:defRPr>
            </a:pPr>
            <a:r>
              <a:rPr sz="1350" b="1">
                <a:solidFill>
                  <a:srgbClr val="13243A"/>
                </a:solidFill>
              </a:rPr>
              <a:t>transtats.bts.gov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1DB568-A583-402F-869C-622A2A40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526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43A"/>
                </a:solidFill>
              </a:defRPr>
            </a:pPr>
            <a:r>
              <a:rPr sz="1875" b="1">
                <a:solidFill>
                  <a:srgbClr val="13243A"/>
                </a:solidFill>
              </a:rPr>
              <a:t>Population and purpose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8532B4-D4EB-411F-9590-07E41BA8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76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78B5"/>
                </a:solidFill>
              </a:defRPr>
            </a:pPr>
            <a:r>
              <a:rPr sz="1125" b="1">
                <a:solidFill>
                  <a:srgbClr val="2878B5"/>
                </a:solidFill>
              </a:rPr>
              <a:t>REPRESENTED POPULATION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807437-D303-4DEE-9D3A-CD9C5ACE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432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43A"/>
                </a:solidFill>
              </a:defRPr>
            </a:pPr>
            <a:r>
              <a:rPr sz="1575" b="0">
                <a:solidFill>
                  <a:srgbClr val="13243A"/>
                </a:solidFill>
              </a:rPr>
              <a:t>Reported domestic flights departing Virginia airports, January–December 2025.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37CF39-E7EE-48B2-ADF9-A994ADC1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24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78B5"/>
                </a:solidFill>
              </a:defRPr>
            </a:pPr>
            <a:r>
              <a:rPr sz="1125" b="1">
                <a:solidFill>
                  <a:srgbClr val="2878B5"/>
                </a:solidFill>
              </a:rPr>
              <a:t>TARGET POPULATION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AC54A4-A8C6-4EBD-95DC-6033D31C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909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43A"/>
                </a:solidFill>
              </a:defRPr>
            </a:pPr>
            <a:r>
              <a:rPr sz="1575" b="0">
                <a:solidFill>
                  <a:srgbClr val="13243A"/>
                </a:solidFill>
              </a:rPr>
              <a:t>Comparable scheduled domestic passenger flights originating at Virginia airports.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2339BE-EF17-4D38-B50B-0AF2F7C0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57725"/>
            <a:ext cx="5048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3243A"/>
          </a:solidFill>
          <a:ln xmlns:a="http://schemas.openxmlformats.org/drawingml/2006/main" w="9525">
            <a:solidFill>
              <a:srgbClr val="1324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2621D3-19A2-4852-B1A9-360420AC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7815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B33D"/>
                </a:solidFill>
              </a:defRPr>
            </a:pPr>
            <a:r>
              <a:rPr sz="1125" b="1">
                <a:solidFill>
                  <a:srgbClr val="F3B33D"/>
                </a:solidFill>
              </a:rPr>
              <a:t>Research question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1ECBD3-6460-4DDC-B1E1-4A3F9439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010150"/>
            <a:ext cx="452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Which factors are associated with arrival delays—and when do flights recover time?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724DFF-F117-4808-A86A-5CCA38F0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483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Scope includes IAD, DCA, ORF, RIC, PHF, CHO, ROA and other Virginia origins in the BTS file.</a:t>
            </a:r>
          </a:p>
        </p:txBody>
      </p:sp>
    </p:spTree>
    <p:extLst>
      <p:ext uri="{BB962C8B-B14F-4D97-AF65-F5344CB8AC3E}">
        <p14:creationId xmlns:p14="http://schemas.microsoft.com/office/powerpoint/2010/main" val="5185270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EA4C78-F263-4CD8-A7D7-BC8AE860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78B5"/>
                </a:solidFill>
              </a:defRPr>
            </a:pPr>
            <a:r>
              <a:rPr sz="1125" b="1">
                <a:solidFill>
                  <a:srgbClr val="2878B5"/>
                </a:solidFill>
              </a:rPr>
              <a:t>ACCESS · VARIABLES ·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41F01-8C24-4903-805D-2307FF83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43A"/>
                </a:solidFill>
              </a:defRPr>
            </a:pPr>
            <a:r>
              <a:rPr sz="2850" b="1">
                <a:solidFill>
                  <a:srgbClr val="13243A"/>
                </a:solidFill>
              </a:rPr>
              <a:t>Public, reproducible data with room for the full course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79D41-6CD3-4B73-95E6-1543896A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273"/>
                </a:solidFill>
              </a:defRPr>
            </a:pPr>
            <a:r>
              <a:rPr sz="1200" b="1">
                <a:solidFill>
                  <a:srgbClr val="536273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A2B89-6755-465A-A8E8-479A9CDB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33D"/>
          </a:solidFill>
          <a:ln xmlns:a="http://schemas.openxmlformats.org/drawingml/2006/main" w="0">
            <a:solidFill>
              <a:srgbClr val="F3B3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B67F9-BC8B-4387-9E39-CD1F4B3E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66875"/>
            <a:ext cx="3476625" cy="4000500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5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82356-5F29-4274-93BC-DD1C4365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78B5"/>
                </a:solidFill>
              </a:defRPr>
            </a:pPr>
            <a:r>
              <a:rPr sz="1200" b="1">
                <a:solidFill>
                  <a:srgbClr val="2878B5"/>
                </a:solidFill>
              </a:rPr>
              <a:t>HOW CLASSMATES ACCESS 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9C4BD-E9A3-44BA-BAA4-C0E0D9CB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3B33D"/>
                </a:solidFill>
              </a:defRPr>
            </a:pPr>
            <a:r>
              <a:rPr sz="1800" b="1">
                <a:solidFill>
                  <a:srgbClr val="F3B33D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C9161-2287-4736-BC9C-443A147F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860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43A"/>
                </a:solidFill>
              </a:defRPr>
            </a:pPr>
            <a:r>
              <a:rPr sz="1350" b="1">
                <a:solidFill>
                  <a:srgbClr val="13243A"/>
                </a:solidFill>
              </a:rPr>
              <a:t>Open the official BTS field-selection page.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1D2126-069E-43E7-BFEA-5F83BE26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3B33D"/>
                </a:solidFill>
              </a:defRPr>
            </a:pPr>
            <a:r>
              <a:rPr sz="1800" b="1">
                <a:solidFill>
                  <a:srgbClr val="F3B33D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BD01D-F4D8-477B-9BC5-97BFF404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432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43A"/>
                </a:solidFill>
              </a:defRPr>
            </a:pPr>
            <a:r>
              <a:rPr sz="1350" b="1">
                <a:solidFill>
                  <a:srgbClr val="13243A"/>
                </a:solidFill>
              </a:rPr>
              <a:t>Choose 2025 months and the documented fields.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EDCEB4-D31D-4D90-9F8E-A381D8C4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3B33D"/>
                </a:solidFill>
              </a:defRPr>
            </a:pPr>
            <a:r>
              <a:rPr sz="1800" b="1">
                <a:solidFill>
                  <a:srgbClr val="F3B33D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D27239-9A30-46D0-B3EC-63C3F046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718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43A"/>
                </a:solidFill>
              </a:defRPr>
            </a:pPr>
            <a:r>
              <a:rPr sz="1350" b="1">
                <a:solidFill>
                  <a:srgbClr val="13243A"/>
                </a:solidFill>
              </a:rPr>
              <a:t>Filter OriginState to VA—or run the included Python script.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57246A-464C-452E-A7F7-14973B9F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78B5"/>
                </a:solidFill>
              </a:defRPr>
            </a:pPr>
            <a:r>
              <a:rPr sz="1125" b="1">
                <a:solidFill>
                  <a:srgbClr val="2878B5"/>
                </a:solidFill>
              </a:rPr>
              <a:t>CLASS REPOSITORY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38A0C7-F158-4115-A2E0-0E111DD7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0057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43A"/>
                </a:solidFill>
              </a:defRPr>
            </a:pPr>
            <a:r>
              <a:rPr sz="1200" b="1">
                <a:solidFill>
                  <a:srgbClr val="13243A"/>
                </a:solidFill>
              </a:rPr>
              <a:t>github.com/ddicrisi/</a:t>
            </a:r>
          </a:p>
          <a:p xmlns:a="http://schemas.openxmlformats.org/drawingml/2006/main">
            <a:pPr algn="l">
              <a:defRPr sz="1200" b="1">
                <a:solidFill>
                  <a:srgbClr val="13243A"/>
                </a:solidFill>
              </a:defRPr>
            </a:pPr>
            <a:r>
              <a:rPr sz="1200" b="1">
                <a:solidFill>
                  <a:srgbClr val="13243A"/>
                </a:solidFill>
              </a:rPr>
              <a:t>dasc605-virginia-airline-delays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CEFB9A-B88C-4991-8A3F-593BAC06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Includes the compressed dataset, sample, dictionary, presentation, and reproducible code.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68681D-7C5D-4689-BDB9-5F3833DF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6668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43A"/>
                </a:solidFill>
              </a:defRPr>
            </a:pPr>
            <a:r>
              <a:rPr sz="1875" b="1">
                <a:solidFill>
                  <a:srgbClr val="13243A"/>
                </a:solidFill>
              </a:rPr>
              <a:t>Key variables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0020CD-BA87-4ECA-BD24-01268AE8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0955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78B5"/>
                </a:solidFill>
              </a:defRPr>
            </a:pPr>
            <a:r>
              <a:rPr sz="1125" b="1">
                <a:solidFill>
                  <a:srgbClr val="2878B5"/>
                </a:solidFill>
              </a:rPr>
              <a:t>CONTINUOUS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BA2FF9-9178-4E21-8325-D2CFDD06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381250"/>
            <a:ext cx="3000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43A"/>
                </a:solidFill>
              </a:defRPr>
            </a:pPr>
            <a:r>
              <a:rPr sz="1425" b="0">
                <a:solidFill>
                  <a:srgbClr val="13243A"/>
                </a:solidFill>
              </a:rPr>
              <a:t>Arrival delay · Departure delay</a:t>
            </a:r>
          </a:p>
          <a:p xmlns:a="http://schemas.openxmlformats.org/drawingml/2006/main">
            <a:pPr algn="l">
              <a:defRPr sz="1425" b="0">
                <a:solidFill>
                  <a:srgbClr val="13243A"/>
                </a:solidFill>
              </a:defRPr>
            </a:pPr>
            <a:r>
              <a:rPr sz="1425" b="0">
                <a:solidFill>
                  <a:srgbClr val="13243A"/>
                </a:solidFill>
              </a:rPr>
              <a:t>Taxi-out · Taxi-in · Air time</a:t>
            </a:r>
          </a:p>
          <a:p xmlns:a="http://schemas.openxmlformats.org/drawingml/2006/main">
            <a:pPr algn="l">
              <a:defRPr sz="1425" b="0">
                <a:solidFill>
                  <a:srgbClr val="13243A"/>
                </a:solidFill>
              </a:defRPr>
            </a:pPr>
            <a:r>
              <a:rPr sz="1425" b="0">
                <a:solidFill>
                  <a:srgbClr val="13243A"/>
                </a:solidFill>
              </a:rPr>
              <a:t>Distance · Minutes recovered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C55899-4AC0-47D7-AFD6-5662F07B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695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78B5"/>
                </a:solidFill>
              </a:defRPr>
            </a:pPr>
            <a:r>
              <a:rPr sz="1125" b="1">
                <a:solidFill>
                  <a:srgbClr val="2878B5"/>
                </a:solidFill>
              </a:rPr>
              <a:t>CATEGORICAL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804D16-1A2E-442C-A034-F0F21D68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981450"/>
            <a:ext cx="3000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43A"/>
                </a:solidFill>
              </a:defRPr>
            </a:pPr>
            <a:r>
              <a:rPr sz="1425" b="0">
                <a:solidFill>
                  <a:srgbClr val="13243A"/>
                </a:solidFill>
              </a:rPr>
              <a:t>Airline · Origin · Destination</a:t>
            </a:r>
          </a:p>
          <a:p xmlns:a="http://schemas.openxmlformats.org/drawingml/2006/main">
            <a:pPr algn="l">
              <a:defRPr sz="1425" b="0">
                <a:solidFill>
                  <a:srgbClr val="13243A"/>
                </a:solidFill>
              </a:defRPr>
            </a:pPr>
            <a:r>
              <a:rPr sz="1425" b="0">
                <a:solidFill>
                  <a:srgbClr val="13243A"/>
                </a:solidFill>
              </a:rPr>
              <a:t>Day of week · Cancelled · Diverted</a:t>
            </a:r>
          </a:p>
          <a:p xmlns:a="http://schemas.openxmlformats.org/drawingml/2006/main">
            <a:pPr algn="l">
              <a:defRPr sz="1425" b="0">
                <a:solidFill>
                  <a:srgbClr val="13243A"/>
                </a:solidFill>
              </a:defRPr>
            </a:pPr>
            <a:r>
              <a:rPr sz="1425" b="0">
                <a:solidFill>
                  <a:srgbClr val="13243A"/>
                </a:solidFill>
              </a:rPr>
              <a:t>Delayed 15 minutes or more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D3E234-BC6E-489B-85F8-B86E35A5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66875"/>
            <a:ext cx="3048000" cy="40005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3243A"/>
          </a:solidFill>
          <a:ln xmlns:a="http://schemas.openxmlformats.org/drawingml/2006/main" w="9525">
            <a:solidFill>
              <a:srgbClr val="1324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875BFB-6B8E-41E3-9B2C-EEB07DE1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885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Course runway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BEE045-99B8-4270-B179-AAB877E2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390775"/>
            <a:ext cx="1143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B33D"/>
                </a:solidFill>
              </a:defRPr>
            </a:pPr>
            <a:r>
              <a:rPr sz="1050" b="1">
                <a:solidFill>
                  <a:srgbClr val="F3B33D"/>
                </a:solidFill>
              </a:rPr>
              <a:t>CHAPTER 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0F06DA-D239-4EA8-875B-1698F436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6193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Correlation and regression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537D7D-243B-401A-A857-6A3A7A13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086100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B33D"/>
                </a:solidFill>
              </a:defRPr>
            </a:pPr>
            <a:r>
              <a:rPr sz="1050" b="1">
                <a:solidFill>
                  <a:srgbClr val="F3B33D"/>
                </a:solidFill>
              </a:rPr>
              <a:t>CHAPTERS 9–10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D7BA55-B88C-482D-9A59-F2527350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3147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Estimation and group tests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627591-36F0-4188-862E-8A00DDDE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781425"/>
            <a:ext cx="1143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B33D"/>
                </a:solidFill>
              </a:defRPr>
            </a:pPr>
            <a:r>
              <a:rPr sz="1050" b="1">
                <a:solidFill>
                  <a:srgbClr val="F3B33D"/>
                </a:solidFill>
              </a:rPr>
              <a:t>CHAPTER 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AF8F5B-EE34-41F4-B069-96FA0BAD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0100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Covariance matrix and PCA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E2A5BD-FB47-4636-B9BC-B6FDB125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476750"/>
            <a:ext cx="1143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B33D"/>
                </a:solidFill>
              </a:defRPr>
            </a:pPr>
            <a:r>
              <a:rPr sz="1050" b="1">
                <a:solidFill>
                  <a:srgbClr val="F3B33D"/>
                </a:solidFill>
              </a:rPr>
              <a:t>CHAPTER 12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1A6B95-DE18-4F25-90FC-2C042E81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705350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Delay regression and ≥15-minute classification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1D9321-B366-461E-8C3F-51852336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962650"/>
            <a:ext cx="642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Important: cancelled or diverted flights are not assigned a zero arrival delay; they are excluded from arrival-delay models.</a:t>
            </a:r>
          </a:p>
        </p:txBody>
      </p:sp>
    </p:spTree>
    <p:extLst>
      <p:ext uri="{BB962C8B-B14F-4D97-AF65-F5344CB8AC3E}">
        <p14:creationId xmlns:p14="http://schemas.microsoft.com/office/powerpoint/2010/main" val="4065338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2026-09-05T01:42:04.9630000Z</dcterms:created>
  <dcterms:modified xsi:type="dcterms:W3CDTF">2026-09-05T01:42:04.9630000Z</dcterms:modified>
</coreProperties>
</file>