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2ca38e50b9444e" /><Relationship Type="http://schemas.openxmlformats.org/officeDocument/2006/relationships/extended-properties" Target="/docProps/app.xml" Id="Rb771aff2e9b143ce" /><Relationship Type="http://schemas.openxmlformats.org/officeDocument/2006/relationships/officeDocument" Target="/ppt/presentation.xml" Id="R8bf5659f8f6948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97219dc204e66"/>
  </p:sldMasterIdLst>
  <p:notesMasterIdLst>
    <p:notesMasterId xmlns:r="http://schemas.openxmlformats.org/officeDocument/2006/relationships" r:id="R62d065bdad6e4a96"/>
  </p:notesMasterIdLst>
  <p:sldIdLst>
    <p:sldId xmlns:r="http://schemas.openxmlformats.org/officeDocument/2006/relationships" id="256" r:id="Rcb0ac89ece4441fe"/>
    <p:sldId xmlns:r="http://schemas.openxmlformats.org/officeDocument/2006/relationships" id="257" r:id="Re3c91957c2954b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aa6995b3f64857" /><Relationship Type="http://schemas.openxmlformats.org/officeDocument/2006/relationships/slideMaster" Target="/ppt/slideMasters/slideMaster1.xml" Id="R90f97219dc204e66" /><Relationship Type="http://schemas.openxmlformats.org/officeDocument/2006/relationships/notesMaster" Target="/ppt/notesMasters/notesMaster1.xml" Id="R62d065bdad6e4a96" /><Relationship Type="http://schemas.openxmlformats.org/officeDocument/2006/relationships/presProps" Target="/ppt/presProps.xml" Id="Re92ce838ff634c0e" /><Relationship Type="http://schemas.openxmlformats.org/officeDocument/2006/relationships/tableStyles" Target="/ppt/tableStyles.xml" Id="R9f0a3550f3724183" /><Relationship Type="http://schemas.openxmlformats.org/officeDocument/2006/relationships/slide" Target="/ppt/slides/slide1.xml" Id="Rcb0ac89ece4441fe" /><Relationship Type="http://schemas.openxmlformats.org/officeDocument/2006/relationships/slide" Target="/ppt/slides/slide2.xml" Id="Re3c91957c2954b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c1aad49dd644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2ef15ea7d54ecd" /><Relationship Type="http://schemas.openxmlformats.org/officeDocument/2006/relationships/notesMaster" Target="/ppt/notesMasters/notesMaster1.xml" Id="Rfa6539ba4f5849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087aea7c2543c9" /><Relationship Type="http://schemas.openxmlformats.org/officeDocument/2006/relationships/notesMaster" Target="/ppt/notesMasters/notesMaster1.xml" Id="Rcab6d066298f4a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separate five-minute script for the complete narration.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https://transtats.bts.gov/DatabaseInfo.asp?QO_VQ=EFD</a:t>
            </a:r>
          </a:p>
          <a:p xmlns:a="http://schemas.openxmlformats.org/drawingml/2006/main">
            <a:r>
              <a:t>- https://www.transtats.bts.gov/DL_SelectFields.aspx?QO_fu146_anzr=&amp;gnoyr_VQ=FGJ</a:t>
            </a:r>
          </a:p>
          <a:p xmlns:a="http://schemas.openxmlformats.org/drawingml/2006/main">
            <a:r>
              <a:t>- https://catalog.data.gov/dataset/u-s-marketing-air-carriers-on-time-performance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separate five-minute script for the complete narration.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https://transtats.bts.gov/DatabaseInfo.asp?QO_VQ=EFD</a:t>
            </a:r>
          </a:p>
          <a:p xmlns:a="http://schemas.openxmlformats.org/drawingml/2006/main">
            <a:r>
              <a:t>- https://www.transtats.bts.gov/DL_SelectFields.aspx?QO_fu146_anzr=&amp;gnoyr_VQ=FGJ</a:t>
            </a:r>
          </a:p>
          <a:p xmlns:a="http://schemas.openxmlformats.org/drawingml/2006/main">
            <a:r>
              <a:t>- https://www.transportation.gov/briefing-room/air-travel-consumer-report-december-2025-numbers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64963bb6334b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8b5913d921433f" /><Relationship Type="http://schemas.openxmlformats.org/officeDocument/2006/relationships/slideLayout" Target="/ppt/slideLayouts/slideLayout1.xml" Id="Rf60488fa02a940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0488fa02a940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cc80c26e24a60" /><Relationship Type="http://schemas.openxmlformats.org/officeDocument/2006/relationships/notesSlide" Target="/ppt/notesSlides/notesSlide1.xml" Id="R329c493eb34542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7805af955433d" /><Relationship Type="http://schemas.openxmlformats.org/officeDocument/2006/relationships/notesSlide" Target="/ppt/notesSlides/notesSlide2.xml" Id="R2eb1ad21882e49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AF5320-9025-471F-A4FF-04FAF671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DASC 605 · BRING YOUR OWN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EF3DF-FADA-406E-9A14-7BD77CEF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243A"/>
                </a:solidFill>
              </a:defRPr>
            </a:pPr>
            <a:r>
              <a:rPr sz="2850" b="1">
                <a:solidFill>
                  <a:srgbClr val="13243A"/>
                </a:solidFill>
              </a:rPr>
              <a:t>Understanding and Predicting Delays at Virginia Airports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9B84C-7F04-4643-87C2-4215CCB8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36273"/>
                </a:solidFill>
              </a:defRPr>
            </a:pPr>
            <a:r>
              <a:rPr sz="1200" b="1">
                <a:solidFill>
                  <a:srgbClr val="536273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69FC0-7109-476D-906B-392B2189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33D"/>
          </a:solidFill>
          <a:ln xmlns:a="http://schemas.openxmlformats.org/drawingml/2006/main" w="0">
            <a:solidFill>
              <a:srgbClr val="F3B3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3B6F7-9B3B-4617-A54D-FF6F02DD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904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273"/>
                </a:solidFill>
              </a:defRPr>
            </a:pPr>
            <a:r>
              <a:rPr sz="1500" b="0">
                <a:solidFill>
                  <a:srgbClr val="536273"/>
                </a:solidFill>
              </a:rPr>
              <a:t>2025 U.S. DOT/BTS Reporting Carrier On-Time Performance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BF535-BD12-4060-8CFF-7EDDE216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4762500" cy="361950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5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9B803-6C0B-46F6-8B77-F041DB4F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878B5"/>
                </a:solidFill>
              </a:defRPr>
            </a:pPr>
            <a:r>
              <a:rPr sz="1200" b="1">
                <a:solidFill>
                  <a:srgbClr val="2878B5"/>
                </a:solidFill>
              </a:rPr>
              <a:t>WHY THIS DATASET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47F8A-830A-4DE1-A457-8059E0D5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43A"/>
                </a:solidFill>
              </a:defRPr>
            </a:pPr>
            <a:r>
              <a:rPr sz="1950" b="1">
                <a:solidFill>
                  <a:srgbClr val="13243A"/>
                </a:solidFill>
              </a:rPr>
              <a:t>One row = one reported domestic flight</a:t>
            </a:r>
          </a:p>
          <a:p xmlns:a="http://schemas.openxmlformats.org/drawingml/2006/main">
            <a:pPr algn="l">
              <a:defRPr sz="1950" b="1">
                <a:solidFill>
                  <a:srgbClr val="13243A"/>
                </a:solidFill>
              </a:defRPr>
            </a:pPr>
            <a:r>
              <a:rPr sz="1950" b="1">
                <a:solidFill>
                  <a:srgbClr val="13243A"/>
                </a:solidFill>
              </a:rPr>
              <a:t>originating at a Virginia airport in 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59D6C-A8F5-44B1-9AFC-2D60C699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4000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273"/>
                </a:solidFill>
              </a:defRPr>
            </a:pPr>
            <a:r>
              <a:rPr sz="1425" b="0">
                <a:solidFill>
                  <a:srgbClr val="536273"/>
                </a:solidFill>
              </a:rPr>
              <a:t>BTS receives monthly, flight-level reports from qualifying U.S. carriers. Records include scheduled and actual times, airports, airline, taxi and air time, distance, cancellations, diversions, and attributed delay causes.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9F30C-F1A9-4F8E-975A-B01FB859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878B5"/>
                </a:solidFill>
              </a:defRPr>
            </a:pPr>
            <a:r>
              <a:rPr sz="1200" b="1">
                <a:solidFill>
                  <a:srgbClr val="2878B5"/>
                </a:solidFill>
              </a:rPr>
              <a:t>Official public 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CD24F-5EEA-4A69-BD57-C358A785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43A"/>
                </a:solidFill>
              </a:defRPr>
            </a:pPr>
            <a:r>
              <a:rPr sz="1350" b="1">
                <a:solidFill>
                  <a:srgbClr val="13243A"/>
                </a:solidFill>
              </a:rPr>
              <a:t>transtats.bts.gov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6CDDF3-3D77-4D58-99A9-871D7F13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526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3243A"/>
                </a:solidFill>
              </a:defRPr>
            </a:pPr>
            <a:r>
              <a:rPr sz="1875" b="1">
                <a:solidFill>
                  <a:srgbClr val="13243A"/>
                </a:solidFill>
              </a:rPr>
              <a:t>Population and purpose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16D7F0-91A8-4FB0-8A8E-5EA2C1AF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REPRESENTED POPULATION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87F998-C120-4E71-8AB4-20AE8E3C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4320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3243A"/>
                </a:solidFill>
              </a:defRPr>
            </a:pPr>
            <a:r>
              <a:rPr sz="1575" b="0">
                <a:solidFill>
                  <a:srgbClr val="13243A"/>
                </a:solidFill>
              </a:rPr>
              <a:t>Reported domestic flights departing Virginia airports, January–December 2025.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67457-6466-4BCC-B932-8DA0572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TARGET POPULATION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2A6253-D018-4044-860F-3316A18F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909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3243A"/>
                </a:solidFill>
              </a:defRPr>
            </a:pPr>
            <a:r>
              <a:rPr sz="1575" b="0">
                <a:solidFill>
                  <a:srgbClr val="13243A"/>
                </a:solidFill>
              </a:rPr>
              <a:t>Comparable scheduled domestic passenger flights originating at Virginia airports.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8FB4A-0FCE-43FC-BDA8-B30B0FA0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5048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1324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185D4-10CF-47D7-A0F5-0B512EB5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781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B33D"/>
                </a:solidFill>
              </a:defRPr>
            </a:pPr>
            <a:r>
              <a:rPr sz="1125" b="1">
                <a:solidFill>
                  <a:srgbClr val="F3B33D"/>
                </a:solidFill>
              </a:rPr>
              <a:t>Research question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7FFBB3-197D-4C96-82F7-91ED339B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010150"/>
            <a:ext cx="4524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Which factors are associated with arrival delays—and when do flights recover time?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211CC8-EBFC-496B-B8BB-AB4F642C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273"/>
                </a:solidFill>
              </a:defRPr>
            </a:pPr>
            <a:r>
              <a:rPr sz="1200" b="0">
                <a:solidFill>
                  <a:srgbClr val="536273"/>
                </a:solidFill>
              </a:rPr>
              <a:t>Scope includes IAD, DCA, ORF, RIC, PHF, CHO, ROA and other Virginia origins in the BTS file.</a:t>
            </a:r>
          </a:p>
        </p:txBody>
      </p:sp>
    </p:spTree>
    <p:extLst>
      <p:ext uri="{BB962C8B-B14F-4D97-AF65-F5344CB8AC3E}">
        <p14:creationId xmlns:p14="http://schemas.microsoft.com/office/powerpoint/2010/main" val="20190870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557A44-9334-4C52-AA13-BEBCB9C4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ACCESS · VARIABLES ·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441A7-0FE0-4AF2-ACA1-8283EBAD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243A"/>
                </a:solidFill>
              </a:defRPr>
            </a:pPr>
            <a:r>
              <a:rPr sz="2850" b="1">
                <a:solidFill>
                  <a:srgbClr val="13243A"/>
                </a:solidFill>
              </a:rPr>
              <a:t>Public, reproducible data with room for the full course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4795F-5A37-4A4F-B5A1-68F929AF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36273"/>
                </a:solidFill>
              </a:defRPr>
            </a:pPr>
            <a:r>
              <a:rPr sz="120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04A41-9C78-4610-9CF1-F12662BA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33D"/>
          </a:solidFill>
          <a:ln xmlns:a="http://schemas.openxmlformats.org/drawingml/2006/main" w="0">
            <a:solidFill>
              <a:srgbClr val="F3B3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0F3EA-4F57-4E94-BBF0-6654D56B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3476625" cy="4000500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5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FDC71-2056-4DBA-8312-89415A4A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878B5"/>
                </a:solidFill>
              </a:defRPr>
            </a:pPr>
            <a:r>
              <a:rPr sz="1200" b="1">
                <a:solidFill>
                  <a:srgbClr val="2878B5"/>
                </a:solidFill>
              </a:rPr>
              <a:t>HOW CLASSMATES ACCESS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DC977-BD53-48BE-B526-739E95F8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B33D"/>
                </a:solidFill>
              </a:defRPr>
            </a:pPr>
            <a:r>
              <a:rPr sz="1800" b="1">
                <a:solidFill>
                  <a:srgbClr val="F3B33D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B6AD96-CB31-45FB-BE9C-2AF7CD6D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860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43A"/>
                </a:solidFill>
              </a:defRPr>
            </a:pPr>
            <a:r>
              <a:rPr sz="1350" b="1">
                <a:solidFill>
                  <a:srgbClr val="13243A"/>
                </a:solidFill>
              </a:rPr>
              <a:t>Open the official BTS field-selection page.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1E726-DE4D-4AD4-9D9A-383A24D8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037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B33D"/>
                </a:solidFill>
              </a:defRPr>
            </a:pPr>
            <a:r>
              <a:rPr sz="1800" b="1">
                <a:solidFill>
                  <a:srgbClr val="F3B33D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7DCD6-AFA9-486E-B246-EC9471E4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432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43A"/>
                </a:solidFill>
              </a:defRPr>
            </a:pPr>
            <a:r>
              <a:rPr sz="1350" b="1">
                <a:solidFill>
                  <a:srgbClr val="13243A"/>
                </a:solidFill>
              </a:rPr>
              <a:t>Choose 2025 months and the documented fields.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E5C7C6-DF9E-4838-9F71-3BEFC572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B33D"/>
                </a:solidFill>
              </a:defRPr>
            </a:pPr>
            <a:r>
              <a:rPr sz="1800" b="1">
                <a:solidFill>
                  <a:srgbClr val="F3B33D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322FA-0AF3-44AC-BCB8-D9B1CDD8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7187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43A"/>
                </a:solidFill>
              </a:defRPr>
            </a:pPr>
            <a:r>
              <a:rPr sz="1350" b="1">
                <a:solidFill>
                  <a:srgbClr val="13243A"/>
                </a:solidFill>
              </a:rPr>
              <a:t>Filter OriginState to VA—or run the included Python 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6533CA-3626-4B5B-AC04-4FFC19E8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DOWNLOAD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BA708-1A16-4865-BBBA-CB5BF9AD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243A"/>
                </a:solidFill>
              </a:defRPr>
            </a:pPr>
            <a:r>
              <a:rPr sz="1200" b="1">
                <a:solidFill>
                  <a:srgbClr val="13243A"/>
                </a:solidFill>
              </a:rPr>
              <a:t>transtats.bts.gov</a:t>
            </a:r>
          </a:p>
          <a:p xmlns:a="http://schemas.openxmlformats.org/drawingml/2006/main">
            <a:pPr algn="l">
              <a:defRPr sz="1200" b="1">
                <a:solidFill>
                  <a:srgbClr val="13243A"/>
                </a:solidFill>
              </a:defRPr>
            </a:pPr>
            <a:r>
              <a:rPr sz="1200" b="1">
                <a:solidFill>
                  <a:srgbClr val="13243A"/>
                </a:solidFill>
              </a:rPr>
              <a:t>→ Aviation → On-Time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CEF12-66FF-47FF-9D2B-BC133611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76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The project package includes the compressed dataset, sample, dictionary, and reproducible code.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3B8B4-1760-4E02-ACEF-1C45F465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666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3243A"/>
                </a:solidFill>
              </a:defRPr>
            </a:pPr>
            <a:r>
              <a:rPr sz="1875" b="1">
                <a:solidFill>
                  <a:srgbClr val="13243A"/>
                </a:solidFill>
              </a:rPr>
              <a:t>Key variables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16147-7469-4242-B4C3-3EEE4216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0955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CONTINUOUS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90585-C51F-46A8-BB31-A068474D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381250"/>
            <a:ext cx="3000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3243A"/>
                </a:solidFill>
              </a:defRPr>
            </a:pPr>
            <a:r>
              <a:rPr sz="1425" b="0">
                <a:solidFill>
                  <a:srgbClr val="13243A"/>
                </a:solidFill>
              </a:rPr>
              <a:t>Arrival delay · Departure delay</a:t>
            </a:r>
          </a:p>
          <a:p xmlns:a="http://schemas.openxmlformats.org/drawingml/2006/main">
            <a:pPr algn="l">
              <a:defRPr sz="1425" b="0">
                <a:solidFill>
                  <a:srgbClr val="13243A"/>
                </a:solidFill>
              </a:defRPr>
            </a:pPr>
            <a:r>
              <a:rPr sz="1425" b="0">
                <a:solidFill>
                  <a:srgbClr val="13243A"/>
                </a:solidFill>
              </a:rPr>
              <a:t>Taxi-out · Taxi-in · Air time</a:t>
            </a:r>
          </a:p>
          <a:p xmlns:a="http://schemas.openxmlformats.org/drawingml/2006/main">
            <a:pPr algn="l">
              <a:defRPr sz="1425" b="0">
                <a:solidFill>
                  <a:srgbClr val="13243A"/>
                </a:solidFill>
              </a:defRPr>
            </a:pPr>
            <a:r>
              <a:rPr sz="1425" b="0">
                <a:solidFill>
                  <a:srgbClr val="13243A"/>
                </a:solidFill>
              </a:rPr>
              <a:t>Distance · Minutes recovered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073F4E-6981-41B2-9467-797B1210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695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8B5"/>
                </a:solidFill>
              </a:defRPr>
            </a:pPr>
            <a:r>
              <a:rPr sz="1125" b="1">
                <a:solidFill>
                  <a:srgbClr val="2878B5"/>
                </a:solidFill>
              </a:rPr>
              <a:t>CATEGORICAL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D2DDA8-D0BD-47FD-94BA-E1E373AA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981450"/>
            <a:ext cx="3000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3243A"/>
                </a:solidFill>
              </a:defRPr>
            </a:pPr>
            <a:r>
              <a:rPr sz="1425" b="0">
                <a:solidFill>
                  <a:srgbClr val="13243A"/>
                </a:solidFill>
              </a:rPr>
              <a:t>Airline · Origin · Destination</a:t>
            </a:r>
          </a:p>
          <a:p xmlns:a="http://schemas.openxmlformats.org/drawingml/2006/main">
            <a:pPr algn="l">
              <a:defRPr sz="1425" b="0">
                <a:solidFill>
                  <a:srgbClr val="13243A"/>
                </a:solidFill>
              </a:defRPr>
            </a:pPr>
            <a:r>
              <a:rPr sz="1425" b="0">
                <a:solidFill>
                  <a:srgbClr val="13243A"/>
                </a:solidFill>
              </a:rPr>
              <a:t>Day of week · Cancelled · Diverted</a:t>
            </a:r>
          </a:p>
          <a:p xmlns:a="http://schemas.openxmlformats.org/drawingml/2006/main">
            <a:pPr algn="l">
              <a:defRPr sz="1425" b="0">
                <a:solidFill>
                  <a:srgbClr val="13243A"/>
                </a:solidFill>
              </a:defRPr>
            </a:pPr>
            <a:r>
              <a:rPr sz="1425" b="0">
                <a:solidFill>
                  <a:srgbClr val="13243A"/>
                </a:solidFill>
              </a:rPr>
              <a:t>Delayed 15 minutes or more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7BEFBB-50CA-453A-9EB5-CA99E358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048000" cy="40005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1324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A833EC-873C-42D5-97C3-8349CBA4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885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Course runway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1DF75-AD1C-489A-8867-B5BA687C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390775"/>
            <a:ext cx="1143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B33D"/>
                </a:solidFill>
              </a:defRPr>
            </a:pPr>
            <a:r>
              <a:rPr sz="1050" b="1">
                <a:solidFill>
                  <a:srgbClr val="F3B33D"/>
                </a:solidFill>
              </a:rPr>
              <a:t>CHAPTER 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52974D-5ACA-488F-AA89-C72BD70F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619375"/>
            <a:ext cx="2333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Correlation and regression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DB0E9-F714-42F1-B15E-E84E936C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086100"/>
            <a:ext cx="1428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B33D"/>
                </a:solidFill>
              </a:defRPr>
            </a:pPr>
            <a:r>
              <a:rPr sz="1050" b="1">
                <a:solidFill>
                  <a:srgbClr val="F3B33D"/>
                </a:solidFill>
              </a:rPr>
              <a:t>CHAPTERS 9–10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97E59F-2B08-41BF-82F6-5B54F4A7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314700"/>
            <a:ext cx="2333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Estimation and group tests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CC1795-7958-4BA2-9784-42670D86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781425"/>
            <a:ext cx="1143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B33D"/>
                </a:solidFill>
              </a:defRPr>
            </a:pPr>
            <a:r>
              <a:rPr sz="1050" b="1">
                <a:solidFill>
                  <a:srgbClr val="F3B33D"/>
                </a:solidFill>
              </a:rPr>
              <a:t>CHAPTER 11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A43D9B-5E6D-4CA7-94EC-BEDAF53A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010025"/>
            <a:ext cx="2333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Covariance matrix and PCA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3451C-5DA9-4158-AD40-7EF5F244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476750"/>
            <a:ext cx="1143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B33D"/>
                </a:solidFill>
              </a:defRPr>
            </a:pPr>
            <a:r>
              <a:rPr sz="1050" b="1">
                <a:solidFill>
                  <a:srgbClr val="F3B33D"/>
                </a:solidFill>
              </a:rPr>
              <a:t>CHAPTER 12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3A9D29-BB54-49D0-A4E8-D53F57DB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70535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Delay regression and ≥15-minute classification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12BEB5-EF4E-46DF-9E1A-916B09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962650"/>
            <a:ext cx="642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273"/>
                </a:solidFill>
              </a:defRPr>
            </a:pPr>
            <a:r>
              <a:rPr sz="1200" b="0">
                <a:solidFill>
                  <a:srgbClr val="536273"/>
                </a:solidFill>
              </a:rPr>
              <a:t>Important: cancelled or diverted flights are not assigned a zero arrival delay; they are excluded from arrival-delay models.</a:t>
            </a:r>
          </a:p>
        </p:txBody>
      </p:sp>
    </p:spTree>
    <p:extLst>
      <p:ext uri="{BB962C8B-B14F-4D97-AF65-F5344CB8AC3E}">
        <p14:creationId xmlns:p14="http://schemas.microsoft.com/office/powerpoint/2010/main" val="20902038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2026-09-04T22:28:55.1720000Z</dcterms:created>
  <dcterms:modified xsi:type="dcterms:W3CDTF">2026-09-04T22:28:55.1720000Z</dcterms:modified>
</coreProperties>
</file>